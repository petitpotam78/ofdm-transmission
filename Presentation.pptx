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72F5237-2F46-4D09-9ED2-28685C65730B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9FC654B-CF3C-4197-A7B8-63ACC30F7965}" type="datetime1">
              <a:rPr lang="fr-FR" smtClean="0"/>
              <a:t>28/05/2025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8C76A3-98B5-4B21-B61A-12CB18706459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D736D1-CD5A-4572-9CBA-33E7FC45F939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C9D7A3-E5A6-4406-BD41-458458290E40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B3E53E-7668-46EE-B223-1F61A36EEDC1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F17ACB-070F-4180-AB87-65C355C7BE95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F13410-5DE7-49C8-B75E-DDCC068BD0A1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54D007-205E-423B-8056-30344C7102E2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F61DD2E8-8172-4D36-887F-4A1CE864EEDA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83D773-888E-447B-8777-57001267511D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3150AD-EEB4-4FCA-A666-870055D24549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2F6E46-5001-4F25-BAB4-897CA91C173E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D460749-82AF-40A5-878B-E6D770D94819}" type="datetime1">
              <a:rPr lang="fr-FR" smtClean="0"/>
              <a:t>28/05/2025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fr" dirty="0"/>
              <a:t>Transmissions avancÉes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fr" dirty="0"/>
              <a:t>Présenté par wissam lahouassa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2" descr="UVSQ | Université Paris-Saclay | Aller à la page d'accueil">
            <a:extLst>
              <a:ext uri="{FF2B5EF4-FFF2-40B4-BE49-F238E27FC236}">
                <a16:creationId xmlns:a16="http://schemas.microsoft.com/office/drawing/2014/main" id="{9EA2C877-8785-991C-CB3F-3AC5DE4B6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1" y="5622211"/>
            <a:ext cx="4246850" cy="778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Iut Réseaux et Télécoms Sophia Antipolis : Tout comprendre sur la formation  - HostBlog">
            <a:extLst>
              <a:ext uri="{FF2B5EF4-FFF2-40B4-BE49-F238E27FC236}">
                <a16:creationId xmlns:a16="http://schemas.microsoft.com/office/drawing/2014/main" id="{2F064146-0135-97F4-56AE-943C0FD77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1" y="4362557"/>
            <a:ext cx="2252794" cy="107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0FDF81A-6271-ECD1-E2AD-2C905E458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967" y="2323749"/>
            <a:ext cx="4246850" cy="424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AD55CA-22ED-77C3-7EC9-04F7A93B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61BC-BA6B-DC56-964B-E70D0706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E49A3-E503-2BD5-7F7D-DAF4820B82BC}"/>
              </a:ext>
            </a:extLst>
          </p:cNvPr>
          <p:cNvSpPr/>
          <p:nvPr/>
        </p:nvSpPr>
        <p:spPr>
          <a:xfrm>
            <a:off x="359000" y="2441998"/>
            <a:ext cx="729842" cy="68789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9EBB5-268E-B0DD-ADC4-47FA42CDF714}"/>
              </a:ext>
            </a:extLst>
          </p:cNvPr>
          <p:cNvSpPr txBox="1"/>
          <p:nvPr/>
        </p:nvSpPr>
        <p:spPr>
          <a:xfrm>
            <a:off x="1099074" y="2601279"/>
            <a:ext cx="4416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800" dirty="0"/>
              <a:t>OBJECTIF DE LA SAE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F9DBD-3515-78D5-23ED-3483C1729AF2}"/>
              </a:ext>
            </a:extLst>
          </p:cNvPr>
          <p:cNvSpPr/>
          <p:nvPr/>
        </p:nvSpPr>
        <p:spPr>
          <a:xfrm>
            <a:off x="359000" y="3874459"/>
            <a:ext cx="729842" cy="687897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366B7-A43E-E30B-0909-DB33E5787E80}"/>
              </a:ext>
            </a:extLst>
          </p:cNvPr>
          <p:cNvSpPr txBox="1"/>
          <p:nvPr/>
        </p:nvSpPr>
        <p:spPr>
          <a:xfrm>
            <a:off x="1099074" y="403373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800" dirty="0"/>
              <a:t>INTRODUCTION À L’OFDM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A51BA4-2255-2C35-4C4F-F13EEB3E8E2C}"/>
              </a:ext>
            </a:extLst>
          </p:cNvPr>
          <p:cNvSpPr/>
          <p:nvPr/>
        </p:nvSpPr>
        <p:spPr>
          <a:xfrm>
            <a:off x="359000" y="5306920"/>
            <a:ext cx="729842" cy="687897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1E254-031D-167B-8EC5-8B4783ECB33B}"/>
              </a:ext>
            </a:extLst>
          </p:cNvPr>
          <p:cNvSpPr txBox="1"/>
          <p:nvPr/>
        </p:nvSpPr>
        <p:spPr>
          <a:xfrm>
            <a:off x="1088842" y="5327702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dirty="0"/>
              <a:t>ÉMETTEUR À N MODULATEUR/DÉMODULATEUR</a:t>
            </a:r>
          </a:p>
          <a:p>
            <a:pPr lvl="0"/>
            <a:r>
              <a:rPr lang="fr-FR" dirty="0"/>
              <a:t>COMPLEXES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752A3-5946-DC5D-D163-967FD517DA9F}"/>
              </a:ext>
            </a:extLst>
          </p:cNvPr>
          <p:cNvSpPr/>
          <p:nvPr/>
        </p:nvSpPr>
        <p:spPr>
          <a:xfrm>
            <a:off x="6553318" y="2441997"/>
            <a:ext cx="729842" cy="687897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35AA00-24BB-9839-65E1-9985C3F63A57}"/>
              </a:ext>
            </a:extLst>
          </p:cNvPr>
          <p:cNvSpPr txBox="1"/>
          <p:nvPr/>
        </p:nvSpPr>
        <p:spPr>
          <a:xfrm>
            <a:off x="7283160" y="2609669"/>
            <a:ext cx="370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dirty="0"/>
              <a:t>CANAL AWGN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7304D-6775-BF67-6BD5-EA0259C1EB5D}"/>
              </a:ext>
            </a:extLst>
          </p:cNvPr>
          <p:cNvSpPr/>
          <p:nvPr/>
        </p:nvSpPr>
        <p:spPr>
          <a:xfrm>
            <a:off x="6543086" y="3874458"/>
            <a:ext cx="729842" cy="6878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7EB4D1-20AD-5B38-38C0-03378948CCB8}"/>
              </a:ext>
            </a:extLst>
          </p:cNvPr>
          <p:cNvSpPr txBox="1"/>
          <p:nvPr/>
        </p:nvSpPr>
        <p:spPr>
          <a:xfrm>
            <a:off x="7283160" y="3895240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dirty="0"/>
              <a:t>RÉCEPTEUR À N MODULATEUR/DÉMODULATEUR</a:t>
            </a:r>
          </a:p>
          <a:p>
            <a:pPr lvl="0"/>
            <a:r>
              <a:rPr lang="fr-FR" dirty="0"/>
              <a:t>COMPLEXES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605A7-542B-39AC-D672-E45D0E38E98A}"/>
              </a:ext>
            </a:extLst>
          </p:cNvPr>
          <p:cNvSpPr/>
          <p:nvPr/>
        </p:nvSpPr>
        <p:spPr>
          <a:xfrm>
            <a:off x="6553318" y="5306920"/>
            <a:ext cx="729842" cy="68789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AC6A7B-6EB7-6045-10F0-521014DEBA11}"/>
              </a:ext>
            </a:extLst>
          </p:cNvPr>
          <p:cNvSpPr txBox="1"/>
          <p:nvPr/>
        </p:nvSpPr>
        <p:spPr>
          <a:xfrm>
            <a:off x="7305029" y="5433363"/>
            <a:ext cx="3353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dirty="0"/>
              <a:t>CONCLUSION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716C21F-E7B0-43C9-E498-7C62111E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6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6D8FEB-3372-7F53-E136-B194E9ED2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315" y="2033215"/>
            <a:ext cx="5219851" cy="3419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8A4A2F-95D7-2DD7-2039-3149A8D2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OBJECTIF DE LA SAE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032A0-561F-BDD9-5F5B-0072A3B4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834" y="2199280"/>
            <a:ext cx="5238494" cy="3086871"/>
          </a:xfrm>
        </p:spPr>
        <p:txBody>
          <a:bodyPr/>
          <a:lstStyle/>
          <a:p>
            <a:r>
              <a:rPr lang="fr-FR" dirty="0"/>
              <a:t>Comprendre dans quel contexte et pourquoi l’OFDM est utilisé</a:t>
            </a:r>
          </a:p>
          <a:p>
            <a:r>
              <a:rPr lang="fr-FR" dirty="0"/>
              <a:t>Connaître le fonctionnement et l’architecture d’une transmission OFDM</a:t>
            </a:r>
          </a:p>
          <a:p>
            <a:r>
              <a:rPr lang="fr-FR" dirty="0"/>
              <a:t>Faire une simulation d’une transmission OFDM en python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0F9EF-80AF-BC49-B2D7-5409AC44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2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FA8BD7-10EC-13C2-A121-B8FFF5925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10" y="2844799"/>
            <a:ext cx="5071183" cy="22950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37821-058D-DB2A-8E4A-846E993A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Introduction à l’OFDM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007F-26B6-30A5-07DD-AC8A6F94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8118427" cy="3634486"/>
          </a:xfrm>
        </p:spPr>
        <p:txBody>
          <a:bodyPr>
            <a:normAutofit lnSpcReduction="10000"/>
          </a:bodyPr>
          <a:lstStyle/>
          <a:p>
            <a:r>
              <a:rPr lang="fr-FR" dirty="0"/>
              <a:t>Dans les années 60, on a voulu utiliser des transmissions larges bande, problème :</a:t>
            </a:r>
          </a:p>
          <a:p>
            <a:pPr marL="0" indent="0">
              <a:buNone/>
            </a:pPr>
            <a:r>
              <a:rPr lang="fr-FR" dirty="0"/>
              <a:t>      - Compensation du canal demandant un coût de calcul élevé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Les chercheurs ont inventé le principe de sous-porteuse, problème :</a:t>
            </a:r>
          </a:p>
          <a:p>
            <a:pPr marL="0" indent="0">
              <a:buNone/>
            </a:pPr>
            <a:r>
              <a:rPr lang="fr-FR" dirty="0"/>
              <a:t>     - La largeur du spectre était trop élevée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En 1966, Robert W. Chang introduit le principe d’orthogonalité :</a:t>
            </a:r>
          </a:p>
          <a:p>
            <a:pPr marL="0" indent="0">
              <a:buNone/>
            </a:pPr>
            <a:r>
              <a:rPr lang="fr-FR" dirty="0"/>
              <a:t>      - Les sous-porteuses se chevauchent mais ne se perturbent pas</a:t>
            </a:r>
          </a:p>
          <a:p>
            <a:pPr marL="0" indent="0">
              <a:buNone/>
            </a:pPr>
            <a:r>
              <a:rPr lang="fr-FR" dirty="0"/>
              <a:t>      - Facile de retrouver le symbole de modulation avec une corrélation ou une IFFT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5ECA4-84CF-228A-817B-9B698833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3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6575-3F32-C2A6-C3D3-45586C49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C0DE-2A67-8DDD-961F-42240400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56716"/>
            <a:ext cx="11029616" cy="1188720"/>
          </a:xfrm>
        </p:spPr>
        <p:txBody>
          <a:bodyPr>
            <a:normAutofit/>
          </a:bodyPr>
          <a:lstStyle/>
          <a:p>
            <a:pPr lvl="0"/>
            <a:r>
              <a:rPr lang="fr-FR" dirty="0"/>
              <a:t>3. ÉMETTEUR À N MODULATEUR / DÉMODULATEUR COMPLEXES</a:t>
            </a:r>
            <a:br>
              <a:rPr lang="fr-FR" dirty="0"/>
            </a:br>
            <a:endParaRPr lang="fr-FR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B5C8-BF03-335C-2C41-480D12BE7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00E2B4-0DC1-D400-296D-CD5A9EAA9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080" y="1061920"/>
            <a:ext cx="8798560" cy="577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39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BA7E-7E45-0CB8-ACAA-2E93EFAF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ÉMETTEUR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Début de la transmission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B133-B875-1569-FC91-811DB86F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B4AB4D-6628-0A28-F3A0-25A1D7A12189}"/>
              </a:ext>
            </a:extLst>
          </p:cNvPr>
          <p:cNvSpPr txBox="1"/>
          <p:nvPr/>
        </p:nvSpPr>
        <p:spPr>
          <a:xfrm>
            <a:off x="581192" y="2439516"/>
            <a:ext cx="724201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</a:t>
            </a:r>
            <a:endParaRPr lang="fr-FR" sz="1400" b="0" dirty="0">
              <a:solidFill>
                <a:srgbClr val="7A3E9D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nb_symbs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mapping_table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bits_par_symb_sp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log2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nb_symbs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bits_par_symb_ofdm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bits_par_symb_sp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1000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nb_bits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bits_par_symb_ofdm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nb_symb_ofdm</a:t>
            </a:r>
            <a:endParaRPr lang="fr-FR" sz="1400" dirty="0">
              <a:solidFill>
                <a:srgbClr val="7A3E9D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binomial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nb_bits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symbs_num_para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bits_par_symb_sp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B0F3F3-1210-177D-8592-156CD0F238AF}"/>
              </a:ext>
            </a:extLst>
          </p:cNvPr>
          <p:cNvSpPr txBox="1"/>
          <p:nvPr/>
        </p:nvSpPr>
        <p:spPr>
          <a:xfrm>
            <a:off x="8656320" y="1970083"/>
            <a:ext cx="128016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[[[1 0 0 0] [1 0 1 1] [1 1 0 0] [1 1 1 0]]</a:t>
            </a:r>
          </a:p>
          <a:p>
            <a:pPr algn="l">
              <a:buNone/>
            </a:pP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[[1 0 0 1] [1 0 1 1] [0 0 1 0] [0 1 0 0]]</a:t>
            </a:r>
          </a:p>
          <a:p>
            <a:pPr algn="l">
              <a:buNone/>
            </a:pP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[[1 1 0 0] [0 0 1 1] [1 0 0 1] [1 1 0 0]]</a:t>
            </a:r>
          </a:p>
          <a:p>
            <a:pPr algn="l">
              <a:buNone/>
            </a:pP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... </a:t>
            </a:r>
          </a:p>
          <a:p>
            <a:pPr algn="l">
              <a:buNone/>
            </a:pP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[[0 1 1 1] [0 1 0 0] [0 0 0 1] [1 1 0 1]]</a:t>
            </a:r>
          </a:p>
        </p:txBody>
      </p:sp>
    </p:spTree>
    <p:extLst>
      <p:ext uri="{BB962C8B-B14F-4D97-AF65-F5344CB8AC3E}">
        <p14:creationId xmlns:p14="http://schemas.microsoft.com/office/powerpoint/2010/main" val="131204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103A-C664-5D1F-56FE-8265536C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ÉMETTEUR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MAPPING OFDM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D7867-5609-9731-AFBE-026D2611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BE06A-6659-3558-F48D-4CFF3D49F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225" y="1753261"/>
            <a:ext cx="4402583" cy="4402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8C717-8525-59E0-0091-3468108073C9}"/>
              </a:ext>
            </a:extLst>
          </p:cNvPr>
          <p:cNvSpPr txBox="1"/>
          <p:nvPr/>
        </p:nvSpPr>
        <p:spPr>
          <a:xfrm>
            <a:off x="-86655" y="2462519"/>
            <a:ext cx="7112000" cy="264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mapping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symbs_num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mapping_table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symbs_num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symbs_num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symbs_para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symbs_para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,]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mapping_table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)]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b </a:t>
            </a:r>
          </a:p>
          <a:p>
            <a:pPr>
              <a:lnSpc>
                <a:spcPct val="150000"/>
              </a:lnSpc>
              <a:buNone/>
            </a:pP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          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symbs_num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,:,:]])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symbs_para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BEB8A-4D05-4A21-A6D7-71BAEEC3BDFA}"/>
              </a:ext>
            </a:extLst>
          </p:cNvPr>
          <p:cNvSpPr txBox="1"/>
          <p:nvPr/>
        </p:nvSpPr>
        <p:spPr>
          <a:xfrm>
            <a:off x="398485" y="5321776"/>
            <a:ext cx="52098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[[ 3.-3.j 3.-1.j 1.-3.j ... -1.+1.j 3.+1.j 3.+3.j] [ 3.+1.j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3.+1.j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-3.+1.j ... -1.-3.j 1.+1.j 3.+3.j] [ 1.-3.j -3.+3.j 3.-1.j ... -3.-1.j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3.-1.j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-3.-1.j] [ 1.+3.j -1.-3.j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1.-3.j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... 1.-1.j 3.-1.j 1.+3.j]]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2909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5506-97CF-FBC0-FD3D-FB999CEA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ÉMETTEUR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ENVELOPPE COMPLEXE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7C48C-694C-71F0-345B-CAC9FC02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133FD-65CA-2538-40B6-78DB05A80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30" r="7987"/>
          <a:stretch/>
        </p:blipFill>
        <p:spPr>
          <a:xfrm>
            <a:off x="3312160" y="2237836"/>
            <a:ext cx="5425440" cy="12647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69EB4D-986F-C3EE-EAF6-FD6555B1AD06}"/>
              </a:ext>
            </a:extLst>
          </p:cNvPr>
          <p:cNvSpPr/>
          <p:nvPr/>
        </p:nvSpPr>
        <p:spPr>
          <a:xfrm>
            <a:off x="6299200" y="2686607"/>
            <a:ext cx="1381760" cy="518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58C10-2FAF-0998-18A0-9D84482652D1}"/>
              </a:ext>
            </a:extLst>
          </p:cNvPr>
          <p:cNvSpPr txBox="1"/>
          <p:nvPr/>
        </p:nvSpPr>
        <p:spPr>
          <a:xfrm>
            <a:off x="2876316" y="4020819"/>
            <a:ext cx="6439368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env_comp_para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symbs_mod_para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upsampling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608B3-F8A3-B710-97E4-E5A0BEEE88C9}"/>
              </a:ext>
            </a:extLst>
          </p:cNvPr>
          <p:cNvSpPr txBox="1"/>
          <p:nvPr/>
        </p:nvSpPr>
        <p:spPr>
          <a:xfrm>
            <a:off x="3464560" y="4678399"/>
            <a:ext cx="5262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[[ 3.-3.j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3.-3.j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3.-3.j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... 3.+3.j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3.+3.j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3.+3.j] </a:t>
            </a:r>
          </a:p>
          <a:p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[ 3.+1.j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3.+1.j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3.+1.j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... 3.+3.j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3.+3.j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3.+3.j] </a:t>
            </a:r>
          </a:p>
          <a:p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[ 1.-3.j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1.-3.j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1.-3.j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... -3.-1.j -3.-1.j -3.-1.j] [ 1.+3.j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1.+3.j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1.+3.j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... 1.+3.j </a:t>
            </a:r>
            <a:r>
              <a:rPr lang="fr-FR" sz="14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1.+3.j</a:t>
            </a: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1.+3.j]]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439337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7B99-748D-9F8A-3EAC-4F3FF985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ÉMETTEUR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signal analytique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9DFA3-B05F-7D44-A29A-ECF975E0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1379B-0CA2-033F-F380-DAFE2CD8C954}"/>
              </a:ext>
            </a:extLst>
          </p:cNvPr>
          <p:cNvSpPr txBox="1"/>
          <p:nvPr/>
        </p:nvSpPr>
        <p:spPr>
          <a:xfrm>
            <a:off x="210820" y="2322865"/>
            <a:ext cx="6096000" cy="361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exp_comp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t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exp_para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f0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sp_para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exp_comp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f0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exp_comp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f0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sp_para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vstack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sp_para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sp_para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463D4-10E3-4472-FCDD-941557ED89C6}"/>
              </a:ext>
            </a:extLst>
          </p:cNvPr>
          <p:cNvSpPr txBox="1"/>
          <p:nvPr/>
        </p:nvSpPr>
        <p:spPr>
          <a:xfrm>
            <a:off x="5402580" y="3566529"/>
            <a:ext cx="6578600" cy="2857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Les 5 premiers symboles de la première sous-porteuse sont : </a:t>
            </a: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[ 3.-1.j 3.-3.j 1.+1.j -3.-3.j -3.-1.j] </a:t>
            </a:r>
          </a:p>
          <a:p>
            <a:pPr>
              <a:lnSpc>
                <a:spcPct val="150000"/>
              </a:lnSpc>
            </a:pPr>
            <a:endParaRPr lang="fr-FR" sz="11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Les 5 premiers symboles de la deuxième sous-porteuse sont : </a:t>
            </a: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[-1.+1.j 1.+3.j </a:t>
            </a:r>
            <a:r>
              <a:rPr lang="fr-FR" sz="11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1.+3.j</a:t>
            </a: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3.+1.j -1.+3.j] </a:t>
            </a:r>
          </a:p>
          <a:p>
            <a:pPr>
              <a:lnSpc>
                <a:spcPct val="150000"/>
              </a:lnSpc>
            </a:pPr>
            <a:endParaRPr lang="fr-FR" sz="11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Les 5 premiers symboles de la troisième sous-porteuse sont : </a:t>
            </a: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[ 1.-3.j 3.+1.j -1.+3.j -3.+3.j -1.-3.j] </a:t>
            </a:r>
          </a:p>
          <a:p>
            <a:pPr>
              <a:lnSpc>
                <a:spcPct val="150000"/>
              </a:lnSpc>
            </a:pPr>
            <a:endParaRPr lang="fr-FR" sz="11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Les 5 premiers symboles de la quatrième sous-porteuse sont : </a:t>
            </a:r>
          </a:p>
          <a:p>
            <a:pPr>
              <a:lnSpc>
                <a:spcPct val="150000"/>
              </a:lnSpc>
            </a:pP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[-1.-3.j 3.+1.j </a:t>
            </a:r>
            <a:r>
              <a:rPr lang="fr-FR" sz="11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3.+1.j</a:t>
            </a:r>
            <a:r>
              <a:rPr lang="fr-FR" sz="11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-1.+1.j -1.-1.j]</a:t>
            </a:r>
            <a:endParaRPr lang="fr-FR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85504-18E2-64C3-42B2-5CAFEDA9D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060" y="2440188"/>
            <a:ext cx="7558120" cy="85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7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63B2-02D6-8E62-3416-D805244B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ÉMETTEUR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signal OFDM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4E59A-C4F8-AA91-3A10-8472003C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7BEB07-F414-D33E-2020-CD1274AB9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1" y="2536874"/>
            <a:ext cx="5443078" cy="36189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B3A60B-6B7A-5F59-0D51-7143CFA7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0" y="2763520"/>
            <a:ext cx="5955547" cy="31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1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E2055-3501-8788-EBDE-D3A9F813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ÉMETTEUR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DSP Des sous-porteuses et du signal </a:t>
            </a:r>
            <a:r>
              <a:rPr lang="fr-FR" dirty="0" err="1">
                <a:latin typeface="+mn-lt"/>
              </a:rPr>
              <a:t>ofdm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C8559-EEB1-5694-2CED-2E69E9DD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0738D-1DF5-ABC4-079A-9CDEA32E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9" y="2547533"/>
            <a:ext cx="5662142" cy="37646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A322C2-E36A-403C-4E3B-C8B9C63EA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220" y="2733040"/>
            <a:ext cx="5821500" cy="308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71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9059-64DA-8A06-4B15-01D2FDBE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CANAL AWGN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4BB51-6ED3-820F-5CE5-8DABB5D1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497AF-B831-A715-49E6-B9EC69057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790" y="1890876"/>
            <a:ext cx="8097678" cy="44482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DCB97-2426-E021-1770-59D2FF44207B}"/>
              </a:ext>
            </a:extLst>
          </p:cNvPr>
          <p:cNvSpPr txBox="1"/>
          <p:nvPr/>
        </p:nvSpPr>
        <p:spPr>
          <a:xfrm>
            <a:off x="99874" y="2597518"/>
            <a:ext cx="6094520" cy="1170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moy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endParaRPr lang="fr-FR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0.4</a:t>
            </a:r>
            <a:endParaRPr lang="fr-FR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2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sig_ofdm_bruit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Canal</a:t>
            </a:r>
            <a:r>
              <a:rPr lang="fr-FR" sz="12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awgn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sig_ofdm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fr-FR" sz="12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moy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fr-FR" sz="12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523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D524-B8FD-D6ED-CA70-53EAA768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5. RÉCEPTEUR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7BFF6-1160-BFF4-2A12-4E54AEE1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197BA1B-1BDF-AAC2-AEE2-A4815571A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857" y="1768525"/>
            <a:ext cx="8474443" cy="502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52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9BF9-F767-5F81-90E9-2A116A2E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RÉCEPTEUR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Corrélateur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AC123-7233-199E-60CB-14EFF4CC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C1E155-D574-541C-A364-B4F7B4F2734B}"/>
              </a:ext>
            </a:extLst>
          </p:cNvPr>
          <p:cNvGrpSpPr/>
          <p:nvPr/>
        </p:nvGrpSpPr>
        <p:grpSpPr>
          <a:xfrm>
            <a:off x="136732" y="2132417"/>
            <a:ext cx="5187297" cy="4291497"/>
            <a:chOff x="581191" y="2110698"/>
            <a:chExt cx="3848434" cy="31559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9FE3DF-CEE2-B8B6-9A72-4A6D19321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192" y="2110698"/>
              <a:ext cx="3848433" cy="48772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D6253C9-FCDB-93ED-BDFC-219986E48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1191" y="2582001"/>
              <a:ext cx="3848433" cy="4724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5E84E57-A147-B842-52EB-F433C124A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191" y="3201487"/>
              <a:ext cx="3848433" cy="120406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176034D-73AC-DE5B-B911-8567340FD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1191" y="4481751"/>
              <a:ext cx="3848433" cy="784928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4C9F842-FB0A-BFE6-5D8E-D3BE45055E31}"/>
              </a:ext>
            </a:extLst>
          </p:cNvPr>
          <p:cNvSpPr txBox="1"/>
          <p:nvPr/>
        </p:nvSpPr>
        <p:spPr>
          <a:xfrm>
            <a:off x="5008360" y="2201197"/>
            <a:ext cx="7376587" cy="158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sig_ofdm_down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sig_ofdm_bruit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exp_comp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(-(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f0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sig_ofdm_bruit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env_comp_para_rcv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moy_glissante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sig_ofdm_down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downsampling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symbs_mod_para_rcv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,]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downsample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env_comp_para_rcv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downsampling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decalage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symbs_mod_para_detect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detection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symbs_mod_para_rcv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,],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mapping_table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bits_para_rcv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,]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Ofdm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demapping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symbs_mod_para_detect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mapping_table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08C34F-92EE-93A1-0735-E939392E591A}"/>
              </a:ext>
            </a:extLst>
          </p:cNvPr>
          <p:cNvSpPr txBox="1"/>
          <p:nvPr/>
        </p:nvSpPr>
        <p:spPr>
          <a:xfrm>
            <a:off x="5324028" y="4204718"/>
            <a:ext cx="6731240" cy="2096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moy_glissante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nb_ech_par_symb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dirty="0">
                <a:solidFill>
                  <a:srgbClr val="333333"/>
                </a:solidFill>
                <a:latin typeface="Consolas" panose="020B0609020204030204" pitchFamily="49" charset="0"/>
              </a:rPr>
              <a:t>       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signal_moy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signal_moy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signal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nb_ech_par_symb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signal_moy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])/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nb_ech_par_symb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signal_moy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1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nb_ech_par_symb</a:t>
            </a:r>
            <a:r>
              <a:rPr lang="fr-FR" sz="11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nb_ech_par_symb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1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1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signal_moy</a:t>
            </a:r>
            <a:r>
              <a:rPr lang="fr-FR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914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94ED-6C1D-B27B-3D83-1BD59A1F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8C84-04B8-68FF-F6AD-6A04742B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RÉCEPTEUR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diagramme de constellation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5DB3D-BA04-1765-B719-1DDCD758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817CB0-4FC4-B48B-AD73-109055E4D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846" y="1904854"/>
            <a:ext cx="4982307" cy="495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61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8536-D054-65A3-5871-6191CF6C7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RÉCEPTEUR À N MODULATEUR / DÉMODULATEUR COMPLEXES</a:t>
            </a:r>
            <a:br>
              <a:rPr lang="fr-FR" dirty="0"/>
            </a:br>
            <a:r>
              <a:rPr lang="fr-FR" dirty="0">
                <a:latin typeface="+mn-lt"/>
              </a:rPr>
              <a:t>CONVERSION Parallèle / série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B5B92-76E9-C1BA-03A4-F2219CCD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A021B-15BA-65C1-728B-54A1C5175920}"/>
              </a:ext>
            </a:extLst>
          </p:cNvPr>
          <p:cNvSpPr txBox="1"/>
          <p:nvPr/>
        </p:nvSpPr>
        <p:spPr>
          <a:xfrm>
            <a:off x="1203298" y="2175292"/>
            <a:ext cx="9785404" cy="199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PS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bits_rcv_para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bits_par_symb_sp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bits_rcv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bits_par_symb_sp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nb_symb_ofdm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bits_rcv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nb_sp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,]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bits_rcv_para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bits_par_symb_sp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:(</a:t>
            </a: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bits_par_symb_sp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]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bits_rcv</a:t>
            </a:r>
            <a:r>
              <a:rPr lang="fr-FR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ravel</a:t>
            </a:r>
            <a:r>
              <a:rPr lang="fr-FR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</a:t>
            </a:r>
            <a:endParaRPr lang="fr-FR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53DBD-14A5-59D7-75C6-A408DD1575F9}"/>
              </a:ext>
            </a:extLst>
          </p:cNvPr>
          <p:cNvSpPr txBox="1"/>
          <p:nvPr/>
        </p:nvSpPr>
        <p:spPr>
          <a:xfrm>
            <a:off x="4667953" y="5282533"/>
            <a:ext cx="7644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Les 20 premiers bits émis sont [1 0 0 0 1 0 1 1 1 1 0 0 1 1 1 0 1 0 0 1] </a:t>
            </a:r>
          </a:p>
          <a:p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Les 20 premiers bits reçus sont [1 0 0 0 1 0 1 1 1 1 0 0 1 1 1 0 1 0 0 1]</a:t>
            </a:r>
            <a:endParaRPr lang="fr-F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18F73-1248-6F03-67C3-57C5252EAA79}"/>
              </a:ext>
            </a:extLst>
          </p:cNvPr>
          <p:cNvSpPr txBox="1"/>
          <p:nvPr/>
        </p:nvSpPr>
        <p:spPr>
          <a:xfrm>
            <a:off x="936300" y="4869471"/>
            <a:ext cx="2765690" cy="134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[[1. 0. 0. ... 0. 0. 1.] [0. 1. 1. ... 0. 1. 1.] [1. 1. 0. ... 0. 1. 1.] [0. 1. 0. ... 0. 1. 0.]]</a:t>
            </a:r>
            <a:endParaRPr lang="fr-FR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062F97-C816-4A25-5A9B-36389F34BE1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444536" y="5544143"/>
            <a:ext cx="12234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558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icône de recherche scientifique de la collection de l'éducation. icône de recherche  scientifique en ligne simple pour les modèles, la conception Web et les  infographies 17206450 Art vectoriel chez Vecteezy">
            <a:extLst>
              <a:ext uri="{FF2B5EF4-FFF2-40B4-BE49-F238E27FC236}">
                <a16:creationId xmlns:a16="http://schemas.microsoft.com/office/drawing/2014/main" id="{71658598-C699-90BC-0810-04F3AF8CC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222" y="4283136"/>
            <a:ext cx="2511804" cy="251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 vectorielle Stock 3G, 4G and 5G wifi icon. Wireless connection symbol  vector isolated on white background | Adobe Stock">
            <a:extLst>
              <a:ext uri="{FF2B5EF4-FFF2-40B4-BE49-F238E27FC236}">
                <a16:creationId xmlns:a16="http://schemas.microsoft.com/office/drawing/2014/main" id="{9564299A-9FBA-8E53-BA65-3E1EBF508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"/>
          <a:stretch/>
        </p:blipFill>
        <p:spPr bwMode="auto">
          <a:xfrm>
            <a:off x="967529" y="5102727"/>
            <a:ext cx="2880411" cy="872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B6193B-E1CB-BC15-5E85-3ABE0D2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FF003-582F-2EE9-3BB2-A5E05CBD8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10643278" cy="3634486"/>
          </a:xfrm>
        </p:spPr>
        <p:txBody>
          <a:bodyPr/>
          <a:lstStyle/>
          <a:p>
            <a:r>
              <a:rPr lang="fr-FR" dirty="0"/>
              <a:t>L’OFDM a révolutionné les communications numériques en introduisant le concept de sous-porteuse</a:t>
            </a:r>
          </a:p>
          <a:p>
            <a:r>
              <a:rPr lang="fr-FR" dirty="0"/>
              <a:t>Elle est aujourd’hui utilisée dans le quotidien en Wifi, LTE, ADSL</a:t>
            </a:r>
          </a:p>
          <a:p>
            <a:r>
              <a:rPr lang="fr-FR" dirty="0"/>
              <a:t>Elle représente à peu près de 70 ans de recherche et continue d’être étudiée</a:t>
            </a:r>
          </a:p>
          <a:p>
            <a:r>
              <a:rPr lang="fr-FR" dirty="0"/>
              <a:t>Dans ce TP on a pu faire une simulation d’une transmission OFDM en python pour mieux appréhender ses concepts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7DCA6-E136-62E7-0A50-5944E43B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4102" name="Picture 6" descr="The Basics of Orthogonal Frequency-Division Multiplexing (OFDM) -  Mini-Circuits Blog">
            <a:extLst>
              <a:ext uri="{FF2B5EF4-FFF2-40B4-BE49-F238E27FC236}">
                <a16:creationId xmlns:a16="http://schemas.microsoft.com/office/drawing/2014/main" id="{56767C01-A3E3-1EB9-0E14-2C2978FA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721" y="4700869"/>
            <a:ext cx="3174054" cy="1905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795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5A56-C360-7A2A-82EB-BAEF5C34A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791489"/>
            <a:ext cx="11029616" cy="127502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8800" dirty="0"/>
              <a:t>MERCI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ACFCD-65D8-3308-34AF-0EDEC02D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7331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3_TF33552983" id="{8919647C-0055-458C-B827-A2A950DB19BD}" vid="{05B00E4D-3D0B-4DF2-A663-65D33D9625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{40C4AF8E-8F5D-498E-A1AF-DED2F19A3079}tf33552983_win32</Template>
  <TotalTime>0</TotalTime>
  <Words>1861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Consolas</vt:lpstr>
      <vt:lpstr>Franklin Gothic Book</vt:lpstr>
      <vt:lpstr>Franklin Gothic Demi</vt:lpstr>
      <vt:lpstr>Wingdings 2</vt:lpstr>
      <vt:lpstr>DividendVTI</vt:lpstr>
      <vt:lpstr>Transmissions avancÉes</vt:lpstr>
      <vt:lpstr>sommaire</vt:lpstr>
      <vt:lpstr>1. OBJECTIF DE LA SAE</vt:lpstr>
      <vt:lpstr>2. Introduction à l’OFDM</vt:lpstr>
      <vt:lpstr>3. ÉMETTEUR À N MODULATEUR / DÉMODULATEUR COMPLEXES </vt:lpstr>
      <vt:lpstr>3. ÉMETTEUR À N MODULATEUR / DÉMODULATEUR COMPLEXES Début de la transmission</vt:lpstr>
      <vt:lpstr>3. ÉMETTEUR À N MODULATEUR / DÉMODULATEUR COMPLEXES MAPPING OFDM</vt:lpstr>
      <vt:lpstr>3. ÉMETTEUR À N MODULATEUR / DÉMODULATEUR COMPLEXES ENVELOPPE COMPLEXE</vt:lpstr>
      <vt:lpstr>3. ÉMETTEUR À N MODULATEUR / DÉMODULATEUR COMPLEXES signal analytique</vt:lpstr>
      <vt:lpstr>3. ÉMETTEUR À N MODULATEUR / DÉMODULATEUR COMPLEXES signal OFDM</vt:lpstr>
      <vt:lpstr>3. ÉMETTEUR À N MODULATEUR / DÉMODULATEUR COMPLEXES DSP Des sous-porteuses et du signal ofdm</vt:lpstr>
      <vt:lpstr>4. CANAL AWGN</vt:lpstr>
      <vt:lpstr>5. RÉCEPTEUR À N MODULATEUR / DÉMODULATEUR COMPLEXES Architecture</vt:lpstr>
      <vt:lpstr>5. RÉCEPTEUR À N MODULATEUR / DÉMODULATEUR COMPLEXES Corrélateur</vt:lpstr>
      <vt:lpstr>5. RÉCEPTEUR À N MODULATEUR / DÉMODULATEUR COMPLEXES diagramme de constellation</vt:lpstr>
      <vt:lpstr>5. RÉCEPTEUR À N MODULATEUR / DÉMODULATEUR COMPLEXES CONVERSION Parallèle / série</vt:lpstr>
      <vt:lpstr>conclusion</vt:lpstr>
      <vt:lpstr>MERCI</vt:lpstr>
    </vt:vector>
  </TitlesOfParts>
  <Company>SICIO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wissamdz958@gmail.com</dc:creator>
  <cp:lastModifiedBy>wissamdz958@gmail.com</cp:lastModifiedBy>
  <cp:revision>41</cp:revision>
  <dcterms:created xsi:type="dcterms:W3CDTF">2025-05-26T16:08:59Z</dcterms:created>
  <dcterms:modified xsi:type="dcterms:W3CDTF">2025-05-28T11:27:20Z</dcterms:modified>
</cp:coreProperties>
</file>